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6" r:id="rId5"/>
    <p:sldId id="261" r:id="rId6"/>
    <p:sldId id="262" r:id="rId7"/>
    <p:sldId id="263" r:id="rId8"/>
    <p:sldId id="264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B9E67E"/>
    <a:srgbClr val="00CC99"/>
    <a:srgbClr val="FFE471"/>
    <a:srgbClr val="FFFF00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>
        <p:scale>
          <a:sx n="83" d="100"/>
          <a:sy n="83" d="100"/>
        </p:scale>
        <p:origin x="6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6289-C66A-2380-6AB8-63256134E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CCF19-BBFE-4AEC-ABB4-D2585A396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C81B4-1CC0-AC8B-89F0-151AD66B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82F3-3638-29B7-DF64-5EA0C19D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6835C-1F89-F557-FF05-9F1CC04D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2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9F40-679D-2020-A5DA-6D586A8B9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9BA9D-EF09-1B19-2325-6880DC1B5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D485D-0A43-916E-C209-57ADA06A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25AB3-BEAB-7920-658E-D95451C3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4129A-C04C-B798-84F7-E1FA77C3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3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59F1-FA7B-DD6D-D400-914A5ABF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806A2-D728-1729-B793-1EF37869B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93FF2-EA13-DF95-FE37-99F2CD4B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14420-9169-876B-3EEE-81ADCA9B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839FD-F910-7CD5-B1A4-8AEE5814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D863-6EE2-D835-6D55-AD167F51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C6D0-8C6B-56E5-3238-30E6F411C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BA19E-CBCF-D88C-D689-403186C4B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1D8FB-DDE0-219D-62A0-A2C49D4A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3FCA6-F010-5BC6-6F27-CA6D2291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A98D5-5BE5-4E81-1468-8A7317C7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7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8EC04-9442-976B-2CD6-2FB6D690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EC0A0-AC72-72D6-51C1-A95B94E74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C3874-05E2-FADB-7956-EB277BAE3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4280C-59F1-5EC0-B56B-EDEC5DB22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B55EB-F36F-4E39-AB4B-B89843E22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495382-83F1-3C48-D051-513B0F8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F9887-7726-2268-3F9E-D31FB07D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E031D-B04E-D913-60A0-E9A00352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3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87ED-85B5-D68B-F4AC-0C0492BB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E47E3-0508-165A-ABDB-4C828AE4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F14BB-A112-73ED-0A4D-8C450FAE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DAA7E-A3E1-8E40-B00C-1BD05FC3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3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9F37E-B9D9-C1E2-BCEB-EFCD15D3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F1BDD-ED30-D7C0-D85D-5DF598B9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B7B0-94DA-A993-AD95-C413551A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4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A335-C535-5667-5A28-C02C815C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EB39-5C56-3D26-15EC-605711FFE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FA7DB-E127-7FA8-92DD-95D34337D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C0BE8-6A01-D2D3-7D78-8DBE14B6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41320-CFE5-A592-B288-B683A912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65DB6-EE07-E74F-7360-F7666415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D045-3F4F-1350-E866-EA20FF68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EA16A-2209-1AFE-7D40-38A3FE99A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6AC76-BFED-99CF-F0EC-F9CD2FCF1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64DB4-2BE3-8A4B-ABA3-01666A46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5B93F-34B5-0413-028C-12D4943A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03D5-7823-4ACA-0190-37A90BF1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2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13FB-A5BF-A08F-D08D-3ED64148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83B68-A7B6-8FB1-877A-2B9519CE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8C5AE-6EF7-DB62-1240-55F89936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8414E-5591-57A5-9808-49834D81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73DFB-A405-972D-E762-FF44ECE7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8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316FD9-02BF-1061-85DF-BAF19887B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628F4-D221-12D6-DA3D-0A5D5C531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995AE-EE2D-4178-5724-9C787981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90E8E-1862-54CC-4E29-305ECC41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23CB-83F3-521D-B327-7B12507F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4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F0BCD-3507-26B9-9840-239B9EBC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27B31-7CD9-44A1-D5D9-30E798C04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39D2D-B0EB-0D2D-D03E-CA977B0AA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B4A7F-558F-44EE-AEA6-E67B10BACE8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6D5EA-FD8F-A25E-65BF-52717B425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75AE-D2DB-6929-CB98-BFA98E79F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D7167-4091-4BAB-959D-014584B02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2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3931-A20A-8E66-22B1-71379702D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C# DERSLERİ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50518-F791-E04B-059B-465611FFA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500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1456-FE4A-E353-E294-A4770DD1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EKRANA YAZDIRMA OPERATÖRLERİ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5B06-5025-F985-15FB-49C5BAB95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791C8-8E5C-B76A-DB4B-43357319D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075177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rgbClr val="00CC99"/>
                </a:solidFill>
              </a:rPr>
              <a:t>Console</a:t>
            </a:r>
            <a:r>
              <a:rPr lang="en-US" sz="2200" dirty="0" err="1">
                <a:solidFill>
                  <a:srgbClr val="FFC000"/>
                </a:solidFill>
              </a:rPr>
              <a:t>.Write</a:t>
            </a:r>
            <a:r>
              <a:rPr lang="en-US" sz="2200" dirty="0">
                <a:solidFill>
                  <a:srgbClr val="FFC000"/>
                </a:solidFill>
              </a:rPr>
              <a:t>(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"Hello World"</a:t>
            </a:r>
            <a:r>
              <a:rPr lang="en-US" sz="2200" dirty="0">
                <a:solidFill>
                  <a:srgbClr val="FFC000"/>
                </a:solidFill>
              </a:rPr>
              <a:t>)</a:t>
            </a:r>
            <a:r>
              <a:rPr lang="en-US" sz="2200" dirty="0"/>
              <a:t>;</a:t>
            </a:r>
            <a:endParaRPr lang="tr-T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/>
              <a:t>// write </a:t>
            </a:r>
            <a:r>
              <a:rPr lang="en-US" sz="2200" dirty="0" err="1"/>
              <a:t>komutunda</a:t>
            </a:r>
            <a:r>
              <a:rPr lang="en-US" sz="2200" dirty="0"/>
              <a:t> </a:t>
            </a:r>
            <a:r>
              <a:rPr lang="en-US" sz="2200" dirty="0" err="1"/>
              <a:t>imleç</a:t>
            </a:r>
            <a:r>
              <a:rPr lang="en-US" sz="2200" dirty="0"/>
              <a:t> </a:t>
            </a:r>
            <a:r>
              <a:rPr lang="en-US" sz="2200" dirty="0" err="1"/>
              <a:t>aynı</a:t>
            </a:r>
            <a:r>
              <a:rPr lang="en-US" sz="2200" dirty="0"/>
              <a:t> </a:t>
            </a:r>
            <a:r>
              <a:rPr lang="en-US" sz="2200" dirty="0" err="1"/>
              <a:t>satırda</a:t>
            </a:r>
            <a:r>
              <a:rPr lang="en-US" sz="2200" dirty="0"/>
              <a:t> </a:t>
            </a:r>
            <a:r>
              <a:rPr lang="en-US" sz="2200" dirty="0" err="1"/>
              <a:t>kalır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>
                <a:solidFill>
                  <a:srgbClr val="00CC99"/>
                </a:solidFill>
              </a:rPr>
              <a:t>Console</a:t>
            </a:r>
            <a:r>
              <a:rPr lang="en-US" sz="2200" dirty="0" err="1">
                <a:solidFill>
                  <a:srgbClr val="FFC000"/>
                </a:solidFill>
              </a:rPr>
              <a:t>.WriteLine</a:t>
            </a:r>
            <a:r>
              <a:rPr lang="en-US" sz="2200" dirty="0">
                <a:solidFill>
                  <a:srgbClr val="FFC000"/>
                </a:solidFill>
              </a:rPr>
              <a:t>(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"Pelin"</a:t>
            </a:r>
            <a:r>
              <a:rPr lang="en-US" sz="2200" dirty="0">
                <a:solidFill>
                  <a:srgbClr val="FFC000"/>
                </a:solidFill>
              </a:rPr>
              <a:t>)</a:t>
            </a:r>
            <a:r>
              <a:rPr lang="en-US" sz="2200" dirty="0"/>
              <a:t>;</a:t>
            </a:r>
            <a:endParaRPr lang="tr-TR" sz="2200" dirty="0"/>
          </a:p>
          <a:p>
            <a:pPr marL="0" indent="0">
              <a:buNone/>
            </a:pPr>
            <a:r>
              <a:rPr lang="en-US" sz="2200" dirty="0"/>
              <a:t> // </a:t>
            </a:r>
            <a:r>
              <a:rPr lang="en-US" sz="2200" dirty="0" err="1"/>
              <a:t>writeline</a:t>
            </a:r>
            <a:r>
              <a:rPr lang="en-US" sz="2200" dirty="0"/>
              <a:t> </a:t>
            </a:r>
            <a:r>
              <a:rPr lang="en-US" sz="2200" dirty="0" err="1"/>
              <a:t>komutunda</a:t>
            </a:r>
            <a:r>
              <a:rPr lang="en-US" sz="2200" dirty="0"/>
              <a:t> </a:t>
            </a:r>
            <a:r>
              <a:rPr lang="en-US" sz="2200" dirty="0" err="1"/>
              <a:t>imleç</a:t>
            </a:r>
            <a:r>
              <a:rPr lang="en-US" sz="2200" dirty="0"/>
              <a:t> </a:t>
            </a:r>
            <a:r>
              <a:rPr lang="en-US" sz="2200" dirty="0" err="1"/>
              <a:t>bir</a:t>
            </a:r>
            <a:r>
              <a:rPr lang="en-US" sz="2200" dirty="0"/>
              <a:t> alt </a:t>
            </a:r>
            <a:r>
              <a:rPr lang="en-US" sz="2200" dirty="0" err="1"/>
              <a:t>satıra</a:t>
            </a:r>
            <a:r>
              <a:rPr lang="en-US" sz="2200" dirty="0"/>
              <a:t> </a:t>
            </a:r>
            <a:r>
              <a:rPr lang="en-US" sz="2200" dirty="0" err="1"/>
              <a:t>iner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>
                <a:solidFill>
                  <a:srgbClr val="00CC99"/>
                </a:solidFill>
              </a:rPr>
              <a:t>Console</a:t>
            </a:r>
            <a:r>
              <a:rPr lang="en-US" sz="2200" dirty="0" err="1">
                <a:solidFill>
                  <a:srgbClr val="FFC000"/>
                </a:solidFill>
              </a:rPr>
              <a:t>.WriteLine</a:t>
            </a:r>
            <a:r>
              <a:rPr lang="en-US" sz="2200" dirty="0">
                <a:solidFill>
                  <a:srgbClr val="FFC000"/>
                </a:solidFill>
              </a:rPr>
              <a:t>(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"Hello World "</a:t>
            </a:r>
            <a:r>
              <a:rPr lang="en-US" sz="2200" dirty="0">
                <a:solidFill>
                  <a:srgbClr val="FFC000"/>
                </a:solidFill>
              </a:rPr>
              <a:t>)</a:t>
            </a:r>
            <a:r>
              <a:rPr lang="en-US" sz="2200" dirty="0"/>
              <a:t>;</a:t>
            </a:r>
            <a:endParaRPr lang="tr-TR" sz="22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rgbClr val="00CC99"/>
                </a:solidFill>
              </a:rPr>
              <a:t>Console</a:t>
            </a:r>
            <a:r>
              <a:rPr lang="en-US" sz="2200" dirty="0" err="1">
                <a:solidFill>
                  <a:srgbClr val="FFC000"/>
                </a:solidFill>
              </a:rPr>
              <a:t>.WriteLine</a:t>
            </a:r>
            <a:r>
              <a:rPr lang="en-US" sz="2200" dirty="0">
                <a:solidFill>
                  <a:srgbClr val="FFC000"/>
                </a:solidFill>
              </a:rPr>
              <a:t> (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"Pelin"</a:t>
            </a:r>
            <a:r>
              <a:rPr lang="en-US" sz="2200" dirty="0">
                <a:solidFill>
                  <a:srgbClr val="FFC000"/>
                </a:solidFill>
              </a:rPr>
              <a:t>)</a:t>
            </a:r>
            <a:r>
              <a:rPr lang="en-US" sz="2200" dirty="0"/>
              <a:t>; </a:t>
            </a:r>
            <a:r>
              <a:rPr lang="en-US" sz="2200" dirty="0" err="1">
                <a:solidFill>
                  <a:srgbClr val="00CC99"/>
                </a:solidFill>
              </a:rPr>
              <a:t>Console</a:t>
            </a:r>
            <a:r>
              <a:rPr lang="en-US" sz="2200" dirty="0" err="1"/>
              <a:t>.</a:t>
            </a:r>
            <a:r>
              <a:rPr lang="en-US" sz="2200" dirty="0" err="1">
                <a:solidFill>
                  <a:srgbClr val="FFCC00"/>
                </a:solidFill>
              </a:rPr>
              <a:t>ReadLine</a:t>
            </a:r>
            <a:r>
              <a:rPr lang="en-US" sz="2200" dirty="0">
                <a:solidFill>
                  <a:srgbClr val="FFCC00"/>
                </a:solidFill>
              </a:rPr>
              <a:t>()</a:t>
            </a:r>
            <a:r>
              <a:rPr lang="tr-TR" sz="2200" dirty="0"/>
              <a:t>;</a:t>
            </a:r>
            <a:r>
              <a:rPr lang="en-US" sz="2200" dirty="0">
                <a:solidFill>
                  <a:srgbClr val="FFCC00"/>
                </a:solidFill>
              </a:rPr>
              <a:t> </a:t>
            </a:r>
            <a:r>
              <a:rPr lang="en-US" sz="2200" dirty="0"/>
              <a:t>// </a:t>
            </a:r>
            <a:r>
              <a:rPr lang="en-US" sz="2200" dirty="0" err="1"/>
              <a:t>ekranın</a:t>
            </a:r>
            <a:r>
              <a:rPr lang="en-US" sz="2200" dirty="0"/>
              <a:t> biz </a:t>
            </a:r>
            <a:r>
              <a:rPr lang="en-US" sz="2200" dirty="0" err="1"/>
              <a:t>kapatana</a:t>
            </a:r>
            <a:r>
              <a:rPr lang="en-US" sz="2200" dirty="0"/>
              <a:t> </a:t>
            </a:r>
            <a:r>
              <a:rPr lang="en-US" sz="2200" dirty="0" err="1"/>
              <a:t>kadar</a:t>
            </a:r>
            <a:r>
              <a:rPr lang="en-US" sz="2200" dirty="0"/>
              <a:t> </a:t>
            </a:r>
            <a:r>
              <a:rPr lang="en-US" sz="2200" dirty="0" err="1"/>
              <a:t>açık</a:t>
            </a:r>
            <a:r>
              <a:rPr lang="en-US" sz="2200" dirty="0"/>
              <a:t> </a:t>
            </a:r>
            <a:r>
              <a:rPr lang="en-US" sz="2200" dirty="0" err="1"/>
              <a:t>kalmasını</a:t>
            </a:r>
            <a:r>
              <a:rPr lang="en-US" sz="2200" dirty="0"/>
              <a:t> </a:t>
            </a:r>
            <a:r>
              <a:rPr lang="en-US" sz="2200" dirty="0" err="1"/>
              <a:t>sağlar</a:t>
            </a:r>
            <a:endParaRPr lang="en-US" sz="2200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F2F9D-A6C5-C372-4A03-41431A485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14966" y="1681163"/>
            <a:ext cx="3440421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6AEB1-C04B-AF2D-954F-80B040A99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14968" y="2505075"/>
            <a:ext cx="3440420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Hello WorldPelin</a:t>
            </a:r>
          </a:p>
          <a:p>
            <a:pPr marL="0" indent="0">
              <a:buNone/>
            </a:pPr>
            <a:r>
              <a:rPr lang="tr-TR" dirty="0"/>
              <a:t>Hello World</a:t>
            </a:r>
          </a:p>
          <a:p>
            <a:pPr marL="0" indent="0">
              <a:buNone/>
            </a:pPr>
            <a:r>
              <a:rPr lang="tr-TR" dirty="0"/>
              <a:t>Pelin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2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EA29D-EB0B-5054-7ADB-A4066D1F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DEĞİŞKENLER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8AD6-E966-E70A-EF4B-3EFE40DC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546269" cy="823912"/>
          </a:xfrm>
        </p:spPr>
        <p:txBody>
          <a:bodyPr/>
          <a:lstStyle/>
          <a:p>
            <a:r>
              <a:rPr lang="tr-TR" dirty="0"/>
              <a:t>SAYISAL VERİ TİPLERİ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449DC-742B-C0A9-46E4-6BBDA5858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549445" cy="3684588"/>
          </a:xfrm>
        </p:spPr>
        <p:txBody>
          <a:bodyPr/>
          <a:lstStyle/>
          <a:p>
            <a:r>
              <a:rPr lang="tr-TR" dirty="0"/>
              <a:t>BYTE</a:t>
            </a:r>
          </a:p>
          <a:p>
            <a:r>
              <a:rPr lang="tr-TR" dirty="0"/>
              <a:t>SHORT</a:t>
            </a:r>
          </a:p>
          <a:p>
            <a:r>
              <a:rPr lang="tr-TR" dirty="0"/>
              <a:t>İNT</a:t>
            </a:r>
          </a:p>
          <a:p>
            <a:r>
              <a:rPr lang="tr-TR" dirty="0"/>
              <a:t>LONG</a:t>
            </a:r>
          </a:p>
          <a:p>
            <a:r>
              <a:rPr lang="tr-TR" dirty="0"/>
              <a:t>FLOAT</a:t>
            </a:r>
          </a:p>
          <a:p>
            <a:r>
              <a:rPr lang="tr-TR" dirty="0"/>
              <a:t>DOUBLE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C6E5C-7641-F710-A990-E41EDE574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89233" y="1681163"/>
            <a:ext cx="3546269" cy="823912"/>
          </a:xfrm>
        </p:spPr>
        <p:txBody>
          <a:bodyPr/>
          <a:lstStyle/>
          <a:p>
            <a:r>
              <a:rPr lang="tr-TR" dirty="0"/>
              <a:t>METİNSEL VERİ TİPLER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21B48-9063-8F8A-F465-846B809AF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86057" y="2505075"/>
            <a:ext cx="3546269" cy="3684588"/>
          </a:xfrm>
        </p:spPr>
        <p:txBody>
          <a:bodyPr/>
          <a:lstStyle/>
          <a:p>
            <a:r>
              <a:rPr lang="tr-TR" dirty="0"/>
              <a:t>CHAR</a:t>
            </a:r>
          </a:p>
          <a:p>
            <a:r>
              <a:rPr lang="tr-TR" dirty="0"/>
              <a:t>STRİNG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354A9-2F4A-F406-59F8-2D991B8C317A}"/>
              </a:ext>
            </a:extLst>
          </p:cNvPr>
          <p:cNvSpPr txBox="1"/>
          <p:nvPr/>
        </p:nvSpPr>
        <p:spPr>
          <a:xfrm>
            <a:off x="8058709" y="2043410"/>
            <a:ext cx="3419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DİĞER VERİ TİPLERİ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91D25E-2A8C-357E-A18D-8A911A5AA887}"/>
              </a:ext>
            </a:extLst>
          </p:cNvPr>
          <p:cNvSpPr txBox="1"/>
          <p:nvPr/>
        </p:nvSpPr>
        <p:spPr>
          <a:xfrm>
            <a:off x="8058709" y="2534631"/>
            <a:ext cx="34198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/>
              <a:t>BOOL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/>
              <a:t>OBJECT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998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9B10-DE65-584E-219D-CAAC1B85F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SAYISAL VERİ TİPLERİ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F9C25-3294-70EC-44FE-133EACA753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3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A536-4E18-AF9F-711B-028065A5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382302" cy="1325563"/>
          </a:xfrm>
        </p:spPr>
        <p:txBody>
          <a:bodyPr/>
          <a:lstStyle/>
          <a:p>
            <a:r>
              <a:rPr lang="tr-TR" dirty="0"/>
              <a:t>BYTE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DF97E-5A69-FE33-6576-F5C531061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86C8C-48EE-7970-656E-5B445FCA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085012" cy="368458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byte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birinci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dirty="0"/>
              <a:t>=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byte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ikinci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</a:t>
            </a:r>
            <a:r>
              <a:rPr lang="en-US" dirty="0"/>
              <a:t>=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25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byte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dirty="0"/>
              <a:t>=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byte</a:t>
            </a:r>
            <a:r>
              <a:rPr lang="en-US" dirty="0" err="1"/>
              <a:t>.MaxValue</a:t>
            </a:r>
            <a:r>
              <a:rPr lang="en-US" dirty="0"/>
              <a:t>; </a:t>
            </a:r>
            <a:endParaRPr lang="tr-TR" dirty="0"/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//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MaxValue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sayesinde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değişkenin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alabileceği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en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yüksek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değere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bakabiliriz</a:t>
            </a: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byte</a:t>
            </a:r>
            <a:r>
              <a:rPr lang="en-US" dirty="0"/>
              <a:t> 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dirty="0"/>
              <a:t>=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byte</a:t>
            </a:r>
            <a:r>
              <a:rPr lang="en-US" dirty="0" err="1"/>
              <a:t>.MinValue</a:t>
            </a:r>
            <a:r>
              <a:rPr lang="en-US" dirty="0"/>
              <a:t>; </a:t>
            </a:r>
            <a:endParaRPr lang="tr-TR" dirty="0"/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//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MinValue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sayesinde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değişkenin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alabileceği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en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düşük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değere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bakabiliriz</a:t>
            </a: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CC99"/>
                </a:solidFill>
              </a:rPr>
              <a:t>Console</a:t>
            </a:r>
            <a:r>
              <a:rPr lang="en-US" dirty="0" err="1">
                <a:solidFill>
                  <a:srgbClr val="FFCC00"/>
                </a:solidFill>
              </a:rPr>
              <a:t>.WriteLine</a:t>
            </a:r>
            <a:r>
              <a:rPr lang="en-US" dirty="0">
                <a:solidFill>
                  <a:srgbClr val="FFCC00"/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birinci</a:t>
            </a:r>
            <a:r>
              <a:rPr lang="en-US" dirty="0">
                <a:solidFill>
                  <a:srgbClr val="FFCC00"/>
                </a:solidFill>
              </a:rPr>
              <a:t>)</a:t>
            </a:r>
            <a:r>
              <a:rPr lang="en-US" dirty="0">
                <a:solidFill>
                  <a:srgbClr val="00CC99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CC99"/>
                </a:solidFill>
              </a:rPr>
              <a:t>Console</a:t>
            </a:r>
            <a:r>
              <a:rPr lang="en-US" dirty="0" err="1">
                <a:solidFill>
                  <a:srgbClr val="FFCC00"/>
                </a:solidFill>
              </a:rPr>
              <a:t>.WriteLine</a:t>
            </a:r>
            <a:r>
              <a:rPr lang="en-US" dirty="0">
                <a:solidFill>
                  <a:srgbClr val="FFCC00"/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ikinci</a:t>
            </a:r>
            <a:r>
              <a:rPr lang="en-US" dirty="0">
                <a:solidFill>
                  <a:srgbClr val="FFCC00"/>
                </a:solidFill>
              </a:rPr>
              <a:t>)</a:t>
            </a:r>
            <a:r>
              <a:rPr lang="en-US" dirty="0">
                <a:solidFill>
                  <a:srgbClr val="00CC99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CC99"/>
                </a:solidFill>
              </a:rPr>
              <a:t>Console</a:t>
            </a:r>
            <a:r>
              <a:rPr lang="en-US" dirty="0" err="1">
                <a:solidFill>
                  <a:srgbClr val="FFCC00"/>
                </a:solidFill>
              </a:rPr>
              <a:t>.WriteLine</a:t>
            </a:r>
            <a:r>
              <a:rPr lang="en-US" dirty="0">
                <a:solidFill>
                  <a:srgbClr val="FFCC00"/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dirty="0">
                <a:solidFill>
                  <a:srgbClr val="FFCC00"/>
                </a:solidFill>
              </a:rPr>
              <a:t>)</a:t>
            </a:r>
            <a:r>
              <a:rPr lang="en-US" dirty="0">
                <a:solidFill>
                  <a:srgbClr val="00CC99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CC99"/>
                </a:solidFill>
              </a:rPr>
              <a:t>Console</a:t>
            </a:r>
            <a:r>
              <a:rPr lang="en-US" dirty="0" err="1">
                <a:solidFill>
                  <a:srgbClr val="FFCC00"/>
                </a:solidFill>
              </a:rPr>
              <a:t>.WriteLine</a:t>
            </a:r>
            <a:r>
              <a:rPr lang="en-US" dirty="0">
                <a:solidFill>
                  <a:srgbClr val="FFCC00"/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dirty="0">
                <a:solidFill>
                  <a:srgbClr val="FFCC00"/>
                </a:solidFill>
              </a:rPr>
              <a:t>)</a:t>
            </a:r>
            <a:r>
              <a:rPr lang="en-US" dirty="0">
                <a:solidFill>
                  <a:srgbClr val="00CC99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CC99"/>
                </a:solidFill>
              </a:rPr>
              <a:t>Console</a:t>
            </a:r>
            <a:r>
              <a:rPr lang="en-US" dirty="0" err="1">
                <a:solidFill>
                  <a:srgbClr val="FFCC00"/>
                </a:solidFill>
              </a:rPr>
              <a:t>.WriteLine</a:t>
            </a:r>
            <a:r>
              <a:rPr lang="en-US" dirty="0">
                <a:solidFill>
                  <a:srgbClr val="FFCC00"/>
                </a:solidFill>
              </a:rPr>
              <a:t>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"Byte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değşikeninin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alabileceği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değer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aralığı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"</a:t>
            </a:r>
            <a:r>
              <a:rPr lang="en-US" dirty="0"/>
              <a:t>+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dirty="0"/>
              <a:t>+" </a:t>
            </a:r>
            <a:r>
              <a:rPr lang="en-US" dirty="0" err="1"/>
              <a:t>ile</a:t>
            </a:r>
            <a:r>
              <a:rPr lang="en-US" dirty="0"/>
              <a:t> "+</a:t>
            </a:r>
            <a:r>
              <a:rPr lang="en-US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dirty="0"/>
              <a:t>+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arasındadır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dirty="0">
                <a:solidFill>
                  <a:srgbClr val="FFCC00"/>
                </a:solidFill>
              </a:rPr>
              <a:t>)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76F90-3B76-9C39-4BDD-9EBD18C00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4800" y="1681163"/>
            <a:ext cx="3430588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89E5D-BB5A-0FD1-AE98-1864A6D06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24800" y="2505075"/>
            <a:ext cx="3430588" cy="368458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dirty="0"/>
              <a:t>5</a:t>
            </a:r>
          </a:p>
          <a:p>
            <a:pPr marL="0" indent="0">
              <a:buNone/>
            </a:pPr>
            <a:r>
              <a:rPr lang="tr-TR" dirty="0"/>
              <a:t>25</a:t>
            </a:r>
          </a:p>
          <a:p>
            <a:pPr marL="0" indent="0">
              <a:buNone/>
            </a:pPr>
            <a:r>
              <a:rPr lang="tr-TR" dirty="0"/>
              <a:t>255</a:t>
            </a:r>
          </a:p>
          <a:p>
            <a:pPr marL="0" indent="0">
              <a:buNone/>
            </a:pPr>
            <a:r>
              <a:rPr lang="tr-TR" dirty="0"/>
              <a:t>0</a:t>
            </a:r>
          </a:p>
          <a:p>
            <a:pPr marL="0" indent="0">
              <a:buNone/>
            </a:pPr>
            <a:r>
              <a:rPr lang="tr-TR" dirty="0"/>
              <a:t>B</a:t>
            </a:r>
            <a:r>
              <a:rPr lang="en-US" dirty="0" err="1"/>
              <a:t>yte</a:t>
            </a:r>
            <a:r>
              <a:rPr lang="en-US" dirty="0"/>
              <a:t> </a:t>
            </a:r>
            <a:r>
              <a:rPr lang="en-US" dirty="0" err="1"/>
              <a:t>değşikeninin</a:t>
            </a:r>
            <a:r>
              <a:rPr lang="en-US" dirty="0"/>
              <a:t> </a:t>
            </a:r>
            <a:r>
              <a:rPr lang="en-US" dirty="0" err="1"/>
              <a:t>alabileceği</a:t>
            </a:r>
            <a:r>
              <a:rPr lang="en-US" dirty="0"/>
              <a:t> </a:t>
            </a:r>
            <a:r>
              <a:rPr lang="en-US" dirty="0" err="1"/>
              <a:t>değer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aralığı</a:t>
            </a:r>
            <a:r>
              <a:rPr lang="en-US" dirty="0"/>
              <a:t>: </a:t>
            </a:r>
            <a:r>
              <a:rPr lang="tr-TR" dirty="0"/>
              <a:t>0 İile 255 arasındadır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AFE5BF-EF39-F1E4-9776-6732A7FC5F6E}"/>
              </a:ext>
            </a:extLst>
          </p:cNvPr>
          <p:cNvSpPr txBox="1"/>
          <p:nvPr/>
        </p:nvSpPr>
        <p:spPr>
          <a:xfrm>
            <a:off x="2428568" y="668337"/>
            <a:ext cx="6096000" cy="81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tr-T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yte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değeri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0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255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sayıları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arasında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değer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alabilir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Byte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değişkeni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bellekte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byte'lık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alan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kaplar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64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44454-8D15-F154-F39D-82A9405C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2E461-7A29-DECC-0CAD-283B47DF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977304" cy="1325563"/>
          </a:xfrm>
        </p:spPr>
        <p:txBody>
          <a:bodyPr/>
          <a:lstStyle/>
          <a:p>
            <a:r>
              <a:rPr lang="tr-TR" dirty="0"/>
              <a:t>SHORT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A38BF-7797-3145-28CE-A1A3D5A34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84D42-1375-8733-874A-5D3403CE3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short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short</a:t>
            </a:r>
            <a:r>
              <a:rPr lang="en-US" sz="1500" dirty="0"/>
              <a:t>.</a:t>
            </a:r>
            <a:r>
              <a:rPr lang="en-US" sz="1500" dirty="0" err="1"/>
              <a:t>MaxValue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short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=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short</a:t>
            </a:r>
            <a:r>
              <a:rPr lang="en-US" sz="1500" dirty="0"/>
              <a:t>.</a:t>
            </a:r>
            <a:r>
              <a:rPr lang="en-US" sz="1500" dirty="0" err="1"/>
              <a:t>MinValue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Short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değşikeninin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alabileceği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aralığı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: "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/>
              <a:t>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+" </a:t>
            </a:r>
            <a:r>
              <a:rPr lang="en-US" sz="1500" dirty="0" err="1"/>
              <a:t>ile</a:t>
            </a:r>
            <a:r>
              <a:rPr lang="en-US" sz="1500" dirty="0"/>
              <a:t> "+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+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arasındadır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30B35-7388-BFDF-5C03-E6BA0F823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04782-356B-4E00-B637-D696E9C1D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Short </a:t>
            </a:r>
            <a:r>
              <a:rPr lang="en-US" sz="1500" dirty="0" err="1"/>
              <a:t>değşikeninin</a:t>
            </a:r>
            <a:r>
              <a:rPr lang="en-US" sz="1500" dirty="0"/>
              <a:t> </a:t>
            </a:r>
            <a:r>
              <a:rPr lang="en-US" sz="1500" dirty="0" err="1"/>
              <a:t>alabileceği</a:t>
            </a:r>
            <a:r>
              <a:rPr lang="en-US" sz="1500" dirty="0"/>
              <a:t> </a:t>
            </a:r>
            <a:r>
              <a:rPr lang="en-US" sz="1500" dirty="0" err="1"/>
              <a:t>değer</a:t>
            </a:r>
            <a:r>
              <a:rPr lang="en-US" sz="1500" dirty="0"/>
              <a:t> </a:t>
            </a:r>
            <a:r>
              <a:rPr lang="en-US" sz="1500" dirty="0" err="1"/>
              <a:t>aralığı</a:t>
            </a:r>
            <a:r>
              <a:rPr lang="en-US" sz="1500" dirty="0"/>
              <a:t>: </a:t>
            </a:r>
            <a:r>
              <a:rPr lang="en-US" sz="1600" dirty="0"/>
              <a:t>-32768 </a:t>
            </a:r>
            <a:r>
              <a:rPr lang="en-US" sz="1600" dirty="0" err="1"/>
              <a:t>ile</a:t>
            </a:r>
            <a:r>
              <a:rPr lang="en-US" sz="1600" dirty="0"/>
              <a:t> 32767 </a:t>
            </a:r>
            <a:r>
              <a:rPr lang="tr-TR" sz="1500" dirty="0"/>
              <a:t>arasındadır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5A01E-6E09-A560-4AA2-6BC4B689784E}"/>
              </a:ext>
            </a:extLst>
          </p:cNvPr>
          <p:cNvSpPr txBox="1"/>
          <p:nvPr/>
        </p:nvSpPr>
        <p:spPr>
          <a:xfrm>
            <a:off x="2817090" y="668337"/>
            <a:ext cx="8535122" cy="982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 </a:t>
            </a:r>
            <a:r>
              <a:rPr lang="en-US" dirty="0" err="1"/>
              <a:t>değeri</a:t>
            </a:r>
            <a:r>
              <a:rPr lang="en-US" dirty="0"/>
              <a:t> -32768 </a:t>
            </a:r>
            <a:r>
              <a:rPr lang="en-US" dirty="0" err="1"/>
              <a:t>ile</a:t>
            </a:r>
            <a:r>
              <a:rPr lang="en-US" dirty="0"/>
              <a:t> 32767 </a:t>
            </a:r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alabilir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 </a:t>
            </a:r>
            <a:r>
              <a:rPr lang="en-US" dirty="0" err="1"/>
              <a:t>değişkeni</a:t>
            </a:r>
            <a:r>
              <a:rPr lang="en-US" dirty="0"/>
              <a:t> </a:t>
            </a:r>
            <a:r>
              <a:rPr lang="en-US" dirty="0" err="1"/>
              <a:t>bellekte</a:t>
            </a:r>
            <a:r>
              <a:rPr lang="en-US" dirty="0"/>
              <a:t> 2 </a:t>
            </a:r>
            <a:r>
              <a:rPr lang="en-US" dirty="0" err="1"/>
              <a:t>byte'lık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kaplar</a:t>
            </a:r>
            <a:endParaRPr lang="en-US" dirty="0"/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5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D32C-FFB4-1666-035C-E67DA2AF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5D88-A8A3-A1C8-455C-6336C05C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977304" cy="1325563"/>
          </a:xfrm>
        </p:spPr>
        <p:txBody>
          <a:bodyPr/>
          <a:lstStyle/>
          <a:p>
            <a:r>
              <a:rPr lang="tr-TR" dirty="0"/>
              <a:t>İNT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A4811-B1A0-C7A3-0617-16B3BAA0F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2AF77-1707-7C62-007F-646B27B8D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</a:t>
            </a:r>
            <a:r>
              <a:rPr lang="en-US" sz="1500" dirty="0"/>
              <a:t>.</a:t>
            </a:r>
            <a:r>
              <a:rPr lang="en-US" sz="1500" dirty="0" err="1"/>
              <a:t>MaxValue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=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int</a:t>
            </a:r>
            <a:r>
              <a:rPr lang="en-US" sz="1500" dirty="0"/>
              <a:t>.</a:t>
            </a:r>
            <a:r>
              <a:rPr lang="en-US" sz="1500" dirty="0" err="1"/>
              <a:t>MinValue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İnt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değşikeninin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alabileceği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aralığı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: "</a:t>
            </a:r>
            <a:r>
              <a:rPr lang="en-US" sz="1500" dirty="0"/>
              <a:t>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+" </a:t>
            </a:r>
            <a:r>
              <a:rPr lang="en-US" sz="1500" dirty="0" err="1"/>
              <a:t>ile</a:t>
            </a:r>
            <a:r>
              <a:rPr lang="en-US" sz="1500" dirty="0"/>
              <a:t> "+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+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arasındadır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661340-95F5-F4AD-FEBA-50BDC31D5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98EBC-BA28-2EB3-FEA3-A72CF9307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İnt</a:t>
            </a:r>
            <a:r>
              <a:rPr lang="en-US" sz="1500" dirty="0"/>
              <a:t> </a:t>
            </a:r>
            <a:r>
              <a:rPr lang="en-US" sz="1500" dirty="0" err="1"/>
              <a:t>değşikeninin</a:t>
            </a:r>
            <a:r>
              <a:rPr lang="en-US" sz="1500" dirty="0"/>
              <a:t> </a:t>
            </a:r>
            <a:r>
              <a:rPr lang="en-US" sz="1500" dirty="0" err="1"/>
              <a:t>alabileceği</a:t>
            </a:r>
            <a:r>
              <a:rPr lang="en-US" sz="1500" dirty="0"/>
              <a:t> </a:t>
            </a:r>
            <a:r>
              <a:rPr lang="en-US" sz="1500" dirty="0" err="1"/>
              <a:t>değer</a:t>
            </a:r>
            <a:r>
              <a:rPr lang="en-US" sz="1500" dirty="0"/>
              <a:t> </a:t>
            </a:r>
            <a:r>
              <a:rPr lang="en-US" sz="1500" dirty="0" err="1"/>
              <a:t>aralığı</a:t>
            </a:r>
            <a:r>
              <a:rPr lang="en-US" sz="1500" dirty="0"/>
              <a:t>: </a:t>
            </a:r>
            <a:r>
              <a:rPr lang="tr-TR" sz="1600" dirty="0"/>
              <a:t> 	                  -</a:t>
            </a:r>
            <a:r>
              <a:rPr lang="en-US" sz="1600" dirty="0"/>
              <a:t>2147483648 </a:t>
            </a:r>
            <a:r>
              <a:rPr lang="en-US" sz="1600" dirty="0" err="1"/>
              <a:t>ile</a:t>
            </a:r>
            <a:r>
              <a:rPr lang="en-US" sz="1600" dirty="0"/>
              <a:t> 2147483647 </a:t>
            </a:r>
            <a:r>
              <a:rPr lang="tr-TR" sz="1500" dirty="0"/>
              <a:t>arasındadır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60DD2-0A05-10F9-AEA9-FBBC739FC60C}"/>
              </a:ext>
            </a:extLst>
          </p:cNvPr>
          <p:cNvSpPr txBox="1"/>
          <p:nvPr/>
        </p:nvSpPr>
        <p:spPr>
          <a:xfrm>
            <a:off x="2817090" y="668337"/>
            <a:ext cx="8535122" cy="982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İnt </a:t>
            </a:r>
            <a:r>
              <a:rPr lang="en-US" dirty="0" err="1"/>
              <a:t>değeri</a:t>
            </a:r>
            <a:r>
              <a:rPr lang="en-US" dirty="0"/>
              <a:t> -2147483648 </a:t>
            </a:r>
            <a:r>
              <a:rPr lang="en-US" dirty="0" err="1"/>
              <a:t>ile</a:t>
            </a:r>
            <a:r>
              <a:rPr lang="en-US" dirty="0"/>
              <a:t> 2147483647 </a:t>
            </a:r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alabilir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İnt </a:t>
            </a:r>
            <a:r>
              <a:rPr lang="en-US" dirty="0" err="1"/>
              <a:t>değişkeni</a:t>
            </a:r>
            <a:r>
              <a:rPr lang="en-US" dirty="0"/>
              <a:t> </a:t>
            </a:r>
            <a:r>
              <a:rPr lang="en-US" dirty="0" err="1"/>
              <a:t>bellekte</a:t>
            </a:r>
            <a:r>
              <a:rPr lang="en-US" dirty="0"/>
              <a:t> 4 </a:t>
            </a:r>
            <a:r>
              <a:rPr lang="en-US" dirty="0" err="1"/>
              <a:t>byte'lık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kaplar</a:t>
            </a:r>
            <a:endParaRPr lang="en-US" dirty="0"/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72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7F20-7B61-E92E-C911-FB9EC881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9C83-F235-5F6A-294D-8E4485FB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977304" cy="1325563"/>
          </a:xfrm>
        </p:spPr>
        <p:txBody>
          <a:bodyPr/>
          <a:lstStyle/>
          <a:p>
            <a:r>
              <a:rPr lang="tr-TR" dirty="0"/>
              <a:t>LONG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CB633-92AC-53CB-954A-0D94CBD41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2507D-FCD8-8AB9-F73C-8143F1471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long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long</a:t>
            </a:r>
            <a:r>
              <a:rPr lang="en-US" sz="1500" dirty="0"/>
              <a:t>.</a:t>
            </a:r>
            <a:r>
              <a:rPr lang="en-US" sz="1500" dirty="0" err="1"/>
              <a:t>MaxValue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long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=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long</a:t>
            </a:r>
            <a:r>
              <a:rPr lang="en-US" sz="1500" dirty="0"/>
              <a:t>.</a:t>
            </a:r>
            <a:r>
              <a:rPr lang="en-US" sz="1500" dirty="0" err="1"/>
              <a:t>MinValue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Long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değşikeninin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alabileceği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aralığı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: "</a:t>
            </a:r>
            <a:r>
              <a:rPr lang="en-US" sz="1500" dirty="0"/>
              <a:t>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+" </a:t>
            </a:r>
            <a:r>
              <a:rPr lang="en-US" sz="1500" dirty="0" err="1"/>
              <a:t>ile</a:t>
            </a:r>
            <a:r>
              <a:rPr lang="en-US" sz="1500" dirty="0"/>
              <a:t> "+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+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arasındadır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C7E5C-C8DD-1DC7-1B1E-2007AB8FB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84910-FF14-19C5-5A98-A6F9E3AC9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Long</a:t>
            </a:r>
            <a:r>
              <a:rPr lang="en-US" sz="1500" dirty="0"/>
              <a:t> </a:t>
            </a:r>
            <a:r>
              <a:rPr lang="en-US" sz="1500" dirty="0" err="1"/>
              <a:t>değşikeninin</a:t>
            </a:r>
            <a:r>
              <a:rPr lang="en-US" sz="1500" dirty="0"/>
              <a:t> </a:t>
            </a:r>
            <a:r>
              <a:rPr lang="en-US" sz="1500" dirty="0" err="1"/>
              <a:t>alabileceği</a:t>
            </a:r>
            <a:r>
              <a:rPr lang="en-US" sz="1500" dirty="0"/>
              <a:t> </a:t>
            </a:r>
            <a:r>
              <a:rPr lang="en-US" sz="1500" dirty="0" err="1"/>
              <a:t>değer</a:t>
            </a:r>
            <a:r>
              <a:rPr lang="en-US" sz="1500" dirty="0"/>
              <a:t> </a:t>
            </a:r>
            <a:r>
              <a:rPr lang="en-US" sz="1500" dirty="0" err="1"/>
              <a:t>aralığı</a:t>
            </a:r>
            <a:r>
              <a:rPr lang="en-US" sz="1500" dirty="0"/>
              <a:t>: </a:t>
            </a:r>
            <a:r>
              <a:rPr lang="tr-TR" sz="1600" dirty="0"/>
              <a:t> 	                  </a:t>
            </a:r>
            <a:r>
              <a:rPr lang="en-US" sz="1600" dirty="0"/>
              <a:t>-9223372036854775808 </a:t>
            </a:r>
            <a:r>
              <a:rPr lang="en-US" sz="1600" dirty="0" err="1"/>
              <a:t>ile</a:t>
            </a:r>
            <a:r>
              <a:rPr lang="en-US" sz="1600" dirty="0"/>
              <a:t> 9223372036854775807 </a:t>
            </a:r>
            <a:r>
              <a:rPr lang="tr-TR" sz="1500" dirty="0"/>
              <a:t>arasındadır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0C9F-B86A-E544-B925-EC0C4F34B2CB}"/>
              </a:ext>
            </a:extLst>
          </p:cNvPr>
          <p:cNvSpPr txBox="1"/>
          <p:nvPr/>
        </p:nvSpPr>
        <p:spPr>
          <a:xfrm>
            <a:off x="2817090" y="668337"/>
            <a:ext cx="853512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</a:t>
            </a:r>
            <a:r>
              <a:rPr lang="en-US" dirty="0" err="1"/>
              <a:t>değeri</a:t>
            </a:r>
            <a:r>
              <a:rPr lang="en-US" dirty="0"/>
              <a:t> -9223372036854775808 </a:t>
            </a:r>
            <a:r>
              <a:rPr lang="en-US" dirty="0" err="1"/>
              <a:t>ile</a:t>
            </a:r>
            <a:r>
              <a:rPr lang="en-US" dirty="0"/>
              <a:t> 9223372036854775807 </a:t>
            </a:r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alabilir</a:t>
            </a:r>
            <a:r>
              <a:rPr lang="en-US" dirty="0"/>
              <a:t> 19 </a:t>
            </a:r>
            <a:r>
              <a:rPr lang="en-US" dirty="0" err="1"/>
              <a:t>basamaklı</a:t>
            </a:r>
            <a:r>
              <a:rPr lang="en-US" dirty="0"/>
              <a:t> </a:t>
            </a:r>
            <a:r>
              <a:rPr lang="en-US" dirty="0" err="1"/>
              <a:t>sayılar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</a:t>
            </a:r>
            <a:r>
              <a:rPr lang="en-US" dirty="0" err="1"/>
              <a:t>değişkeni</a:t>
            </a:r>
            <a:r>
              <a:rPr lang="en-US" dirty="0"/>
              <a:t> </a:t>
            </a:r>
            <a:r>
              <a:rPr lang="en-US" dirty="0" err="1"/>
              <a:t>bellekte</a:t>
            </a:r>
            <a:r>
              <a:rPr lang="en-US" dirty="0"/>
              <a:t> 8 </a:t>
            </a:r>
            <a:r>
              <a:rPr lang="en-US" dirty="0" err="1"/>
              <a:t>byte'lık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kaplar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45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E6D3-6DA0-88F5-0D62-BB5EB297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8B80-9A85-4C72-CF52-1BC665C7E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977304" cy="1325563"/>
          </a:xfrm>
        </p:spPr>
        <p:txBody>
          <a:bodyPr/>
          <a:lstStyle/>
          <a:p>
            <a:r>
              <a:rPr lang="tr-TR" dirty="0"/>
              <a:t>FLOAT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DC9AD-B90C-1590-2869-5007E9E6F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0689D-2E04-7CAB-7987-59E83BD19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float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float</a:t>
            </a:r>
            <a:r>
              <a:rPr lang="en-US" sz="1500" dirty="0"/>
              <a:t>.</a:t>
            </a:r>
            <a:r>
              <a:rPr lang="en-US" sz="1500" dirty="0" err="1"/>
              <a:t>MaxValue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float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=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float</a:t>
            </a:r>
            <a:r>
              <a:rPr lang="en-US" sz="1500" dirty="0"/>
              <a:t>.</a:t>
            </a:r>
            <a:r>
              <a:rPr lang="en-US" sz="1500" dirty="0" err="1"/>
              <a:t>MinValue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// float x=5.36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diye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bir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ataması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yapamayız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çünkü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ondalık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sayılarda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atamada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değişkeni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double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olarak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atar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ve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bu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şekilde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kullanılmaz</a:t>
            </a:r>
            <a:endParaRPr lang="en-US" sz="15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float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 </a:t>
            </a:r>
            <a:r>
              <a:rPr lang="en-US" sz="1500" dirty="0"/>
              <a:t>= </a:t>
            </a:r>
            <a:r>
              <a:rPr lang="en-US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5.36f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/>
              <a:t> 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//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ondalık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sayılarda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float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kullanmak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için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atadığımız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deeğerin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sonuna</a:t>
            </a:r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"f" </a:t>
            </a:r>
            <a:r>
              <a:rPr lang="en-US" sz="15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konur</a:t>
            </a:r>
            <a:endParaRPr lang="en-US" sz="15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Float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değşikeninin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alabileceği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aralığı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: "</a:t>
            </a:r>
            <a:r>
              <a:rPr lang="en-US" sz="1500" dirty="0"/>
              <a:t>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+" </a:t>
            </a:r>
            <a:r>
              <a:rPr lang="en-US" sz="1500" dirty="0" err="1"/>
              <a:t>ile</a:t>
            </a:r>
            <a:r>
              <a:rPr lang="en-US" sz="1500" dirty="0"/>
              <a:t> "+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+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arasındadır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en-US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BF6866-4F2A-B0B9-114F-6F8A93D74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FDED6-F4D3-8BFB-1E1A-57D84122A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Float</a:t>
            </a:r>
            <a:r>
              <a:rPr lang="en-US" sz="1500" dirty="0"/>
              <a:t> </a:t>
            </a:r>
            <a:r>
              <a:rPr lang="en-US" sz="1500" dirty="0" err="1"/>
              <a:t>değşikeninin</a:t>
            </a:r>
            <a:r>
              <a:rPr lang="en-US" sz="1500" dirty="0"/>
              <a:t> </a:t>
            </a:r>
            <a:r>
              <a:rPr lang="en-US" sz="1500" dirty="0" err="1"/>
              <a:t>alabileceği</a:t>
            </a:r>
            <a:r>
              <a:rPr lang="en-US" sz="1500" dirty="0"/>
              <a:t> </a:t>
            </a:r>
            <a:r>
              <a:rPr lang="en-US" sz="1500" dirty="0" err="1"/>
              <a:t>değer</a:t>
            </a:r>
            <a:r>
              <a:rPr lang="en-US" sz="1500" dirty="0"/>
              <a:t> </a:t>
            </a:r>
            <a:r>
              <a:rPr lang="en-US" sz="1500" dirty="0" err="1"/>
              <a:t>aralığı</a:t>
            </a:r>
            <a:r>
              <a:rPr lang="en-US" sz="1500" dirty="0"/>
              <a:t>: </a:t>
            </a:r>
            <a:r>
              <a:rPr lang="tr-TR" sz="1600" dirty="0"/>
              <a:t> 	                  </a:t>
            </a:r>
            <a:r>
              <a:rPr lang="en-US" sz="1600" dirty="0"/>
              <a:t>-3.402823E+38 </a:t>
            </a:r>
            <a:r>
              <a:rPr lang="en-US" sz="1600" dirty="0" err="1"/>
              <a:t>ile</a:t>
            </a:r>
            <a:r>
              <a:rPr lang="en-US" sz="1600" dirty="0"/>
              <a:t> 3.402823E+38 </a:t>
            </a:r>
            <a:r>
              <a:rPr lang="tr-TR" sz="1500" dirty="0"/>
              <a:t>arasındadır</a:t>
            </a:r>
          </a:p>
          <a:p>
            <a:pPr marL="0" indent="0">
              <a:buNone/>
            </a:pPr>
            <a:r>
              <a:rPr lang="tr-TR" sz="1500" dirty="0"/>
              <a:t>5.36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5B6D5-C716-3B47-E265-0A408C775E7C}"/>
              </a:ext>
            </a:extLst>
          </p:cNvPr>
          <p:cNvSpPr txBox="1"/>
          <p:nvPr/>
        </p:nvSpPr>
        <p:spPr>
          <a:xfrm>
            <a:off x="2817090" y="668337"/>
            <a:ext cx="853512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Float </a:t>
            </a:r>
            <a:r>
              <a:rPr lang="en-US" dirty="0" err="1"/>
              <a:t>değeri</a:t>
            </a:r>
            <a:r>
              <a:rPr lang="en-US" dirty="0"/>
              <a:t> -3.402823E+38 </a:t>
            </a:r>
            <a:r>
              <a:rPr lang="en-US" dirty="0" err="1"/>
              <a:t>ile</a:t>
            </a:r>
            <a:r>
              <a:rPr lang="en-US" dirty="0"/>
              <a:t> 3.402823E+38 </a:t>
            </a:r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alabilir</a:t>
            </a:r>
            <a:r>
              <a:rPr lang="en-US" dirty="0"/>
              <a:t> 7 </a:t>
            </a:r>
            <a:r>
              <a:rPr lang="en-US" dirty="0" err="1"/>
              <a:t>basamaklı</a:t>
            </a:r>
            <a:r>
              <a:rPr lang="en-US" dirty="0"/>
              <a:t> </a:t>
            </a:r>
            <a:r>
              <a:rPr lang="en-US" dirty="0" err="1"/>
              <a:t>sayılar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Float </a:t>
            </a:r>
            <a:r>
              <a:rPr lang="en-US" dirty="0" err="1"/>
              <a:t>değişkeni</a:t>
            </a:r>
            <a:r>
              <a:rPr lang="en-US" dirty="0"/>
              <a:t> </a:t>
            </a:r>
            <a:r>
              <a:rPr lang="en-US" dirty="0" err="1"/>
              <a:t>bellekte</a:t>
            </a:r>
            <a:r>
              <a:rPr lang="en-US" dirty="0"/>
              <a:t> 4 </a:t>
            </a:r>
            <a:r>
              <a:rPr lang="en-US" dirty="0" err="1"/>
              <a:t>byte'lık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kaplar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21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6C79-9254-8E01-DF8B-4D2103EE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B0C8-98C8-85C8-6422-69C13354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365125"/>
            <a:ext cx="2232745" cy="1325563"/>
          </a:xfrm>
        </p:spPr>
        <p:txBody>
          <a:bodyPr/>
          <a:lstStyle/>
          <a:p>
            <a:r>
              <a:rPr lang="tr-TR" dirty="0"/>
              <a:t>DOUBLE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376B7-2CA8-6A34-274C-8419B08F9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289F7-6F32-A693-1D7A-A35A00D88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double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double</a:t>
            </a:r>
            <a:r>
              <a:rPr lang="en-US" sz="1500" dirty="0"/>
              <a:t>.</a:t>
            </a:r>
            <a:r>
              <a:rPr lang="en-US" sz="1500" dirty="0" err="1"/>
              <a:t>MaxValue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double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=</a:t>
            </a: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double</a:t>
            </a:r>
            <a:r>
              <a:rPr lang="en-US" sz="1500" dirty="0"/>
              <a:t>.</a:t>
            </a:r>
            <a:r>
              <a:rPr lang="en-US" sz="1500" dirty="0" err="1"/>
              <a:t>MinValue</a:t>
            </a:r>
            <a:r>
              <a:rPr lang="en-US" sz="1500" dirty="0"/>
              <a:t>; </a:t>
            </a: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Double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değşikeninin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alabileceği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aralığı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: "</a:t>
            </a:r>
            <a:r>
              <a:rPr lang="en-US" sz="1500" dirty="0"/>
              <a:t>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minDeger</a:t>
            </a:r>
            <a:r>
              <a:rPr lang="en-US" sz="1500" dirty="0"/>
              <a:t>+" </a:t>
            </a:r>
            <a:r>
              <a:rPr lang="en-US" sz="1500" dirty="0" err="1"/>
              <a:t>ile</a:t>
            </a:r>
            <a:r>
              <a:rPr lang="en-US" sz="1500" dirty="0"/>
              <a:t> "+</a:t>
            </a:r>
            <a:r>
              <a:rPr lang="en-US" sz="1500" dirty="0" err="1">
                <a:solidFill>
                  <a:schemeClr val="tx2">
                    <a:lumMod val="25000"/>
                    <a:lumOff val="75000"/>
                  </a:schemeClr>
                </a:solidFill>
              </a:rPr>
              <a:t>maxDeger</a:t>
            </a:r>
            <a:r>
              <a:rPr lang="en-US" sz="1500" dirty="0"/>
              <a:t>+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/>
              <a:t> </a:t>
            </a:r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</a:rPr>
              <a:t>arasındadır</a:t>
            </a:r>
            <a:r>
              <a:rPr lang="en-US" sz="15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31770F-BE3E-72EC-D1BD-2297703B8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120ED-8122-D24C-AC46-DBD0774F3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Double</a:t>
            </a:r>
            <a:r>
              <a:rPr lang="en-US" sz="1500" dirty="0"/>
              <a:t> </a:t>
            </a:r>
            <a:r>
              <a:rPr lang="en-US" sz="1500" dirty="0" err="1"/>
              <a:t>değşikeninin</a:t>
            </a:r>
            <a:r>
              <a:rPr lang="en-US" sz="1500" dirty="0"/>
              <a:t> </a:t>
            </a:r>
            <a:r>
              <a:rPr lang="en-US" sz="1500" dirty="0" err="1"/>
              <a:t>alabileceği</a:t>
            </a:r>
            <a:r>
              <a:rPr lang="en-US" sz="1500" dirty="0"/>
              <a:t> </a:t>
            </a:r>
            <a:r>
              <a:rPr lang="en-US" sz="1500" dirty="0" err="1"/>
              <a:t>değer</a:t>
            </a:r>
            <a:r>
              <a:rPr lang="en-US" sz="1500" dirty="0"/>
              <a:t> </a:t>
            </a:r>
            <a:r>
              <a:rPr lang="en-US" sz="1500" dirty="0" err="1"/>
              <a:t>aralığı</a:t>
            </a:r>
            <a:r>
              <a:rPr lang="en-US" sz="1500" dirty="0"/>
              <a:t>:</a:t>
            </a:r>
            <a:r>
              <a:rPr lang="tr-TR" sz="1500" dirty="0"/>
              <a:t>                  </a:t>
            </a:r>
            <a:r>
              <a:rPr lang="tr-TR" sz="1600" dirty="0"/>
              <a:t> </a:t>
            </a:r>
            <a:r>
              <a:rPr lang="en-US" sz="1600" dirty="0"/>
              <a:t>- 1.79769313486232E+308 </a:t>
            </a:r>
            <a:r>
              <a:rPr lang="en-US" sz="1600" dirty="0" err="1"/>
              <a:t>ile</a:t>
            </a:r>
            <a:r>
              <a:rPr lang="en-US" sz="1600" dirty="0"/>
              <a:t> 1.79769313486232E+308 </a:t>
            </a:r>
            <a:r>
              <a:rPr lang="tr-TR" sz="1500" dirty="0"/>
              <a:t>arasındadır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2CFE0-30F7-3C43-FDFD-7401DBA7AD23}"/>
              </a:ext>
            </a:extLst>
          </p:cNvPr>
          <p:cNvSpPr txBox="1"/>
          <p:nvPr/>
        </p:nvSpPr>
        <p:spPr>
          <a:xfrm>
            <a:off x="3075708" y="668337"/>
            <a:ext cx="827650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 </a:t>
            </a:r>
            <a:r>
              <a:rPr lang="en-US" dirty="0" err="1"/>
              <a:t>değeri</a:t>
            </a:r>
            <a:r>
              <a:rPr lang="en-US" dirty="0"/>
              <a:t> -1.79769313486232E+308 </a:t>
            </a:r>
            <a:r>
              <a:rPr lang="en-US" dirty="0" err="1"/>
              <a:t>ile</a:t>
            </a:r>
            <a:r>
              <a:rPr lang="en-US" dirty="0"/>
              <a:t> 1.79769313486232E+308 </a:t>
            </a:r>
            <a:r>
              <a:rPr lang="en-US" dirty="0" err="1"/>
              <a:t>sayıları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alabilir</a:t>
            </a:r>
            <a:r>
              <a:rPr lang="en-US" dirty="0"/>
              <a:t> 15 </a:t>
            </a:r>
            <a:r>
              <a:rPr lang="en-US" dirty="0" err="1"/>
              <a:t>basamaklı</a:t>
            </a:r>
            <a:r>
              <a:rPr lang="en-US" dirty="0"/>
              <a:t> </a:t>
            </a:r>
            <a:r>
              <a:rPr lang="en-US" dirty="0" err="1"/>
              <a:t>sayılar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Double </a:t>
            </a:r>
            <a:r>
              <a:rPr lang="en-US" dirty="0" err="1"/>
              <a:t>değişkeni</a:t>
            </a:r>
            <a:r>
              <a:rPr lang="en-US" dirty="0"/>
              <a:t> </a:t>
            </a:r>
            <a:r>
              <a:rPr lang="en-US" dirty="0" err="1"/>
              <a:t>bellekte</a:t>
            </a:r>
            <a:r>
              <a:rPr lang="en-US" dirty="0"/>
              <a:t> 8 </a:t>
            </a:r>
            <a:r>
              <a:rPr lang="en-US" dirty="0" err="1"/>
              <a:t>byte'lık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kaplar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8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5F03-3EE5-07C0-59DD-32C2FC7F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413C-C897-F434-5822-C73B76EEB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METİNSEL VERİ TİPLERİ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93194-018C-4B3D-0B91-6C98E4330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4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93EB-1974-8ECA-B09C-E1096324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0926-7FC1-5788-94F2-136CE997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365125"/>
            <a:ext cx="2232745" cy="1325563"/>
          </a:xfrm>
        </p:spPr>
        <p:txBody>
          <a:bodyPr/>
          <a:lstStyle/>
          <a:p>
            <a:r>
              <a:rPr lang="tr-TR" dirty="0"/>
              <a:t>CHAR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DF4D9-B87F-CAF3-172B-DF675814F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9193A-7639-AE03-CC92-B409C45EB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char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karakter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‘E’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char</a:t>
            </a:r>
            <a:r>
              <a:rPr lang="en-US" sz="1500" dirty="0"/>
              <a:t>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karakter2</a:t>
            </a:r>
            <a:r>
              <a:rPr lang="en-US" sz="1500" dirty="0"/>
              <a:t>=</a:t>
            </a:r>
            <a:r>
              <a:rPr lang="tr-TR" sz="1500" dirty="0"/>
              <a:t>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‘?’</a:t>
            </a:r>
            <a:r>
              <a:rPr lang="tr-TR" sz="1500" dirty="0"/>
              <a:t>;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karakter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karakter2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0FA3B-9075-DB17-0A99-4985849FA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24DA1-EF79-937C-1BAA-0AE1E5FD7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E</a:t>
            </a:r>
          </a:p>
          <a:p>
            <a:pPr marL="0" indent="0">
              <a:buNone/>
            </a:pPr>
            <a:r>
              <a:rPr lang="tr-TR" sz="1500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91D84-4771-BE17-5426-097E9E9E309E}"/>
              </a:ext>
            </a:extLst>
          </p:cNvPr>
          <p:cNvSpPr txBox="1"/>
          <p:nvPr/>
        </p:nvSpPr>
        <p:spPr>
          <a:xfrm>
            <a:off x="3075708" y="668337"/>
            <a:ext cx="82765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Karakterleri</a:t>
            </a:r>
            <a:r>
              <a:rPr lang="en-US" dirty="0"/>
              <a:t> </a:t>
            </a:r>
            <a:r>
              <a:rPr lang="en-US" dirty="0" err="1"/>
              <a:t>tutmak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Char </a:t>
            </a:r>
            <a:r>
              <a:rPr lang="en-US" dirty="0" err="1"/>
              <a:t>veri</a:t>
            </a:r>
            <a:r>
              <a:rPr lang="en-US" dirty="0"/>
              <a:t> tipi </a:t>
            </a:r>
            <a:r>
              <a:rPr lang="en-US" dirty="0" err="1"/>
              <a:t>kullanılır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Tek </a:t>
            </a:r>
            <a:r>
              <a:rPr lang="en-US" dirty="0" err="1"/>
              <a:t>tırnak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270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8235-5D1A-C059-1490-9C2800D2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C134-7DCE-2510-65A7-3D0872D8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365125"/>
            <a:ext cx="2232745" cy="1325563"/>
          </a:xfrm>
        </p:spPr>
        <p:txBody>
          <a:bodyPr/>
          <a:lstStyle/>
          <a:p>
            <a:r>
              <a:rPr lang="tr-TR" dirty="0"/>
              <a:t>STRİNG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6AF44-7CFC-AA07-9E00-66F9F550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AD29C-68B2-629B-EBA1-F3A46C612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string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isim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"Pelin"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string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soyad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"Pınarbaşı"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string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"C# Dersine hoşgeldiniz"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isim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soyad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ECA68-CEA2-9A37-E264-C1A1D0BBA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DEE34-55AF-3055-1157-98ED37F5E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Pelin</a:t>
            </a:r>
          </a:p>
          <a:p>
            <a:pPr marL="0" indent="0">
              <a:buNone/>
            </a:pPr>
            <a:r>
              <a:rPr lang="tr-TR" sz="1500" dirty="0"/>
              <a:t>Pınarbaşı</a:t>
            </a:r>
          </a:p>
          <a:p>
            <a:pPr marL="0" indent="0">
              <a:buNone/>
            </a:pPr>
            <a:r>
              <a:rPr lang="tr-TR" sz="1500" dirty="0"/>
              <a:t>C# Dersine Hoşgeldiniz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35B51-51FE-A4AF-F40A-FB24864CEEFB}"/>
              </a:ext>
            </a:extLst>
          </p:cNvPr>
          <p:cNvSpPr txBox="1"/>
          <p:nvPr/>
        </p:nvSpPr>
        <p:spPr>
          <a:xfrm>
            <a:off x="3075708" y="668337"/>
            <a:ext cx="82765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Kelimeleri</a:t>
            </a:r>
            <a:r>
              <a:rPr lang="en-US" dirty="0"/>
              <a:t> </a:t>
            </a:r>
            <a:r>
              <a:rPr lang="en-US" dirty="0" err="1"/>
              <a:t>tutmak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tr-TR" dirty="0"/>
              <a:t>string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tipi </a:t>
            </a:r>
            <a:r>
              <a:rPr lang="en-US" dirty="0" err="1"/>
              <a:t>kullanılır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Çift</a:t>
            </a:r>
            <a:r>
              <a:rPr lang="en-US" dirty="0"/>
              <a:t> </a:t>
            </a:r>
            <a:r>
              <a:rPr lang="en-US" dirty="0" err="1"/>
              <a:t>tırnak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tr-TR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716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02C0-116B-8906-CC39-0B464D0D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C4C1-9EBF-74BB-46B8-C68CCB41B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DİĞER VERİ TİPLERİ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33E3C-13CE-2761-51DD-9B008CF3E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50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529E-23FB-74E0-CE7F-33ED323B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4FFE-83E8-6F35-FAE5-34F0BFEF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365125"/>
            <a:ext cx="2232745" cy="1325563"/>
          </a:xfrm>
        </p:spPr>
        <p:txBody>
          <a:bodyPr/>
          <a:lstStyle/>
          <a:p>
            <a:r>
              <a:rPr lang="tr-TR" dirty="0"/>
              <a:t>BOOL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0D1AE-DAED-6220-3438-37C91396C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3C0A8-B73F-2BD9-2681-C64211B19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bool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sonuc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 </a:t>
            </a:r>
            <a:r>
              <a:rPr lang="tr-TR" sz="1500" dirty="0"/>
              <a:t>&gt;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5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bool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sonuc2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</a:t>
            </a:r>
            <a:r>
              <a:rPr lang="tr-TR" sz="1500" dirty="0"/>
              <a:t>&gt;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7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sonuc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//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ekrana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true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değeri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çıkar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çünkü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sonuc'a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atadığımız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değer</a:t>
            </a:r>
            <a:r>
              <a:rPr lang="tr-TR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doğru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sonuc2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//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ekrana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false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değeri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çıkar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çünkü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sonuc2'a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atadığımız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değer</a:t>
            </a:r>
            <a:r>
              <a:rPr lang="en-US" sz="1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yanlış</a:t>
            </a:r>
            <a:endParaRPr lang="en-US" sz="15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A476E-D561-0970-C66F-BC63C101B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0CD72-17DD-761E-5823-E84509D14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True</a:t>
            </a:r>
          </a:p>
          <a:p>
            <a:pPr marL="0" indent="0">
              <a:buNone/>
            </a:pPr>
            <a:r>
              <a:rPr lang="tr-TR" sz="1500" dirty="0"/>
              <a:t>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6D85E-397F-AE10-578E-5535265BA8A8}"/>
              </a:ext>
            </a:extLst>
          </p:cNvPr>
          <p:cNvSpPr txBox="1"/>
          <p:nvPr/>
        </p:nvSpPr>
        <p:spPr>
          <a:xfrm>
            <a:off x="3075708" y="668337"/>
            <a:ext cx="8276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Verilen ifedenin doğru yada yanlış olduğunu ekrana yazdırır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41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0BED-49D0-C3D9-FD17-D176E4D2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05F7-390D-05DA-93D0-0BB2451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365125"/>
            <a:ext cx="2232745" cy="1325563"/>
          </a:xfrm>
        </p:spPr>
        <p:txBody>
          <a:bodyPr/>
          <a:lstStyle/>
          <a:p>
            <a:r>
              <a:rPr lang="tr-TR" dirty="0"/>
              <a:t>OBJECT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7798E-AC02-C6C9-D1EB-CE49E6BB8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BLOĞU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E0D4F-F0B9-5A67-1D32-FE98C8022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8842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isim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"Pelin"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karakter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2">
                    <a:lumMod val="75000"/>
                  </a:schemeClr>
                </a:solidFill>
              </a:rPr>
              <a:t>‘L’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y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12.56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r>
              <a:rPr lang="tr-TR" sz="15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sonuc </a:t>
            </a:r>
            <a:r>
              <a:rPr lang="en-US" sz="1500" dirty="0"/>
              <a:t>= 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36</a:t>
            </a:r>
            <a:r>
              <a:rPr lang="tr-TR" sz="1500" dirty="0"/>
              <a:t>&gt;</a:t>
            </a:r>
            <a:r>
              <a:rPr lang="tr-TR" sz="15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8</a:t>
            </a:r>
            <a:r>
              <a:rPr lang="tr-TR" sz="1500" dirty="0"/>
              <a:t>;</a:t>
            </a:r>
          </a:p>
          <a:p>
            <a:pPr marL="0" indent="0">
              <a:buNone/>
            </a:pP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isim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karakter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x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y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r>
              <a:rPr lang="en-US" sz="1500" dirty="0" err="1">
                <a:solidFill>
                  <a:srgbClr val="00CC99"/>
                </a:solidFill>
              </a:rPr>
              <a:t>Console</a:t>
            </a:r>
            <a:r>
              <a:rPr lang="en-US" sz="1500" dirty="0" err="1">
                <a:solidFill>
                  <a:srgbClr val="FFCC00"/>
                </a:solidFill>
              </a:rPr>
              <a:t>.WriteLine</a:t>
            </a:r>
            <a:r>
              <a:rPr lang="en-US" sz="1500" dirty="0">
                <a:solidFill>
                  <a:srgbClr val="FFCC00"/>
                </a:solidFill>
              </a:rPr>
              <a:t>(</a:t>
            </a:r>
            <a:r>
              <a:rPr lang="tr-TR" sz="15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sonuc </a:t>
            </a:r>
            <a:r>
              <a:rPr lang="en-US" sz="1500" dirty="0">
                <a:solidFill>
                  <a:srgbClr val="FFCC00"/>
                </a:solidFill>
              </a:rPr>
              <a:t>)</a:t>
            </a:r>
            <a:r>
              <a:rPr lang="en-US" sz="1500" dirty="0"/>
              <a:t>;</a:t>
            </a:r>
            <a:endParaRPr lang="tr-TR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64303-9514-24FE-BF85-0B8B5EEF4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4072" y="1681163"/>
            <a:ext cx="4631315" cy="823912"/>
          </a:xfrm>
        </p:spPr>
        <p:txBody>
          <a:bodyPr/>
          <a:lstStyle/>
          <a:p>
            <a:r>
              <a:rPr lang="tr-TR" dirty="0"/>
              <a:t>EKRAN ÇIKTISI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E8C36-B5A4-CA02-1269-063B3F5F7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4073" y="2505075"/>
            <a:ext cx="4631314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500" dirty="0"/>
              <a:t>Pelin</a:t>
            </a:r>
          </a:p>
          <a:p>
            <a:pPr marL="0" indent="0">
              <a:buNone/>
            </a:pPr>
            <a:r>
              <a:rPr lang="tr-TR" sz="1500" dirty="0"/>
              <a:t>L</a:t>
            </a:r>
          </a:p>
          <a:p>
            <a:pPr marL="0" indent="0">
              <a:buNone/>
            </a:pPr>
            <a:r>
              <a:rPr lang="tr-TR" sz="1500" dirty="0"/>
              <a:t>5</a:t>
            </a:r>
          </a:p>
          <a:p>
            <a:pPr marL="0" indent="0">
              <a:buNone/>
            </a:pPr>
            <a:r>
              <a:rPr lang="tr-TR" sz="1500" dirty="0"/>
              <a:t>12.56</a:t>
            </a:r>
          </a:p>
          <a:p>
            <a:pPr marL="0" indent="0">
              <a:buNone/>
            </a:pPr>
            <a:r>
              <a:rPr lang="tr-TR" sz="1500" dirty="0"/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592CB-3C7A-78A4-84C1-B11EB78614C1}"/>
              </a:ext>
            </a:extLst>
          </p:cNvPr>
          <p:cNvSpPr txBox="1"/>
          <p:nvPr/>
        </p:nvSpPr>
        <p:spPr>
          <a:xfrm>
            <a:off x="3075708" y="668337"/>
            <a:ext cx="8276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Değişkene atanacak değerin türünün hiçbir önemi yok çünkü object her türde değer için kullanılabilir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83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885</Words>
  <Application>Microsoft Office PowerPoint</Application>
  <PresentationFormat>Widescreen</PresentationFormat>
  <Paragraphs>169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C# DERSLERİ</vt:lpstr>
      <vt:lpstr>EKRANA YAZDIRMA OPERATÖRLERİ</vt:lpstr>
      <vt:lpstr>DEĞİŞKENLER</vt:lpstr>
      <vt:lpstr>SAYISAL VERİ TİPLERİ</vt:lpstr>
      <vt:lpstr>BYTE</vt:lpstr>
      <vt:lpstr>SHORT</vt:lpstr>
      <vt:lpstr>İNT</vt:lpstr>
      <vt:lpstr>LONG</vt:lpstr>
      <vt:lpstr>FLOAT</vt:lpstr>
      <vt:lpstr>DOUBLE</vt:lpstr>
      <vt:lpstr>METİNSEL VERİ TİPLERİ</vt:lpstr>
      <vt:lpstr>CHAR</vt:lpstr>
      <vt:lpstr>STRİNG</vt:lpstr>
      <vt:lpstr>DİĞER VERİ TİPLERİ</vt:lpstr>
      <vt:lpstr>BOOL</vt:lpstr>
      <vt:lpstr>OBJECT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pelinnpinarbasi@gmail.com</dc:creator>
  <cp:lastModifiedBy>pelinnpinarbasi@gmail.com</cp:lastModifiedBy>
  <cp:revision>1</cp:revision>
  <dcterms:created xsi:type="dcterms:W3CDTF">2025-10-12T20:10:12Z</dcterms:created>
  <dcterms:modified xsi:type="dcterms:W3CDTF">2025-10-12T21:38:55Z</dcterms:modified>
</cp:coreProperties>
</file>